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0" Type="http://schemas.openxmlformats.org/officeDocument/2006/relationships/notesSlide" Target="../notesSlides/notesSlide6.xml"/><Relationship Id="rId3" Type="http://schemas.openxmlformats.org/officeDocument/2006/relationships/tags" Target="../tags/tag15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40.xml"/><Relationship Id="rId27" Type="http://schemas.openxmlformats.org/officeDocument/2006/relationships/tags" Target="../tags/tag39.xml"/><Relationship Id="rId26" Type="http://schemas.openxmlformats.org/officeDocument/2006/relationships/tags" Target="../tags/tag38.xml"/><Relationship Id="rId25" Type="http://schemas.openxmlformats.org/officeDocument/2006/relationships/tags" Target="../tags/tag3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4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5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3" Type="http://schemas.openxmlformats.org/officeDocument/2006/relationships/notesSlide" Target="../notesSlides/notesSlide13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94.xml"/><Relationship Id="rId20" Type="http://schemas.openxmlformats.org/officeDocument/2006/relationships/tags" Target="../tags/tag93.xml"/><Relationship Id="rId2" Type="http://schemas.openxmlformats.org/officeDocument/2006/relationships/tags" Target="../tags/tag75.xml"/><Relationship Id="rId19" Type="http://schemas.openxmlformats.org/officeDocument/2006/relationships/tags" Target="../tags/tag92.xml"/><Relationship Id="rId18" Type="http://schemas.openxmlformats.org/officeDocument/2006/relationships/tags" Target="../tags/tag91.xml"/><Relationship Id="rId17" Type="http://schemas.openxmlformats.org/officeDocument/2006/relationships/tags" Target="../tags/tag90.xml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tags" Target="../tags/tag7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64008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B703"/>
                </a:solidFill>
                <a:latin typeface="钉钉进步体" panose="00020600040101010101" charset="-122"/>
                <a:ea typeface="钉钉进步体" panose="00020600040101010101" charset="-122"/>
                <a:cs typeface="钉钉进步体" panose="00020600040101010101" charset="-122"/>
              </a:rPr>
              <a:t>PROJECT PROPOSAL · 开题答辩</a:t>
            </a:r>
            <a:endParaRPr lang="en-US" sz="1200" dirty="0">
              <a:latin typeface="钉钉进步体" panose="00020600040101010101" charset="-122"/>
              <a:ea typeface="钉钉进步体" panose="00020600040101010101" charset="-122"/>
              <a:cs typeface="钉钉进步体" panose="00020600040101010101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大模型逻辑推理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过程监督强化学习算法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2B6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Process-Supervised Reinforcement Learning for LLM Reasoning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5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GRPO 与过程奖励模型的稠密信号设计 · 面向竞赛级数学推理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3657600" cy="0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900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汇报日期 · </a:t>
            </a: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2026年4月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0" y="45720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/ 13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课题概述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Topic Overview · 输入、输出与研究边界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594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9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一句话定位:</a:t>
            </a:r>
            <a:r>
              <a:rPr lang="en-US" sz="12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设计一种过程监督式强化学习算法,为长思维链推理的每一步提供稠密、稳健、抗黑客的奖励信号,提升大模型在竞赛级数学题上的解题能力。</a:t>
            </a:r>
            <a:endParaRPr lang="en-US" sz="1200" dirty="0"/>
          </a:p>
        </p:txBody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457200" y="205740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2"/>
            </p:custDataLst>
          </p:nvPr>
        </p:nvSpPr>
        <p:spPr>
          <a:xfrm>
            <a:off x="457200" y="2057400"/>
            <a:ext cx="73152" cy="260604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640080" y="2194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4965"/>
                </a:solidFill>
                <a:latin typeface="钉钉进步体" panose="00020600040101010101" charset="-122"/>
                <a:ea typeface="钉钉进步体" panose="00020600040101010101" charset="-122"/>
                <a:cs typeface="钉钉进步体" panose="00020600040101010101" charset="-122"/>
              </a:rPr>
              <a:t>INPUT  输入</a:t>
            </a:r>
            <a:endParaRPr lang="en-US" sz="1100" dirty="0">
              <a:latin typeface="钉钉进步体" panose="00020600040101010101" charset="-122"/>
              <a:ea typeface="钉钉进步体" panose="00020600040101010101" charset="-122"/>
              <a:cs typeface="钉钉进步体" panose="00020600040101010101" charset="-122"/>
            </a:endParaRPr>
          </a:p>
        </p:txBody>
      </p:sp>
      <p:sp>
        <p:nvSpPr>
          <p:cNvPr id="12" name="Text 10"/>
          <p:cNvSpPr/>
          <p:nvPr>
            <p:custDataLst>
              <p:tags r:id="rId4"/>
            </p:custDataLst>
          </p:nvPr>
        </p:nvSpPr>
        <p:spPr>
          <a:xfrm>
            <a:off x="640080" y="2526030"/>
            <a:ext cx="2423160" cy="1965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基础模型: Qwen2.5-Math-7B / DeepSeek-Math-7B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过程标注数据 (PRM800K等)</a:t>
            </a:r>
            <a:endParaRPr lang="en-US" sz="1100" dirty="0"/>
          </a:p>
        </p:txBody>
      </p:sp>
      <p:sp>
        <p:nvSpPr>
          <p:cNvPr id="13" name="Shape 11"/>
          <p:cNvSpPr/>
          <p:nvPr>
            <p:custDataLst>
              <p:tags r:id="rId5"/>
            </p:custDataLst>
          </p:nvPr>
        </p:nvSpPr>
        <p:spPr>
          <a:xfrm>
            <a:off x="3246120" y="205740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6"/>
            </p:custDataLst>
          </p:nvPr>
        </p:nvSpPr>
        <p:spPr>
          <a:xfrm>
            <a:off x="3246120" y="2057400"/>
            <a:ext cx="73152" cy="2606040"/>
          </a:xfrm>
          <a:prstGeom prst="rect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7"/>
            </p:custDataLst>
          </p:nvPr>
        </p:nvSpPr>
        <p:spPr>
          <a:xfrm>
            <a:off x="3429000" y="2194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2B6CB"/>
                </a:solidFill>
                <a:latin typeface="钉钉进步体" panose="00020600040101010101" charset="-122"/>
                <a:ea typeface="钉钉进步体" panose="00020600040101010101" charset="-122"/>
                <a:cs typeface="钉钉进步体" panose="00020600040101010101" charset="-122"/>
              </a:rPr>
              <a:t>OUTPUT  </a:t>
            </a:r>
            <a:r>
              <a:rPr lang="zh-CN" sz="1100" b="1" kern="0" spc="200" dirty="0">
                <a:solidFill>
                  <a:srgbClr val="62B6CB"/>
                </a:solidFill>
                <a:latin typeface="钉钉进步体" panose="00020600040101010101" charset="-122"/>
                <a:ea typeface="钉钉进步体" panose="00020600040101010101" charset="-122"/>
                <a:cs typeface="钉钉进步体" panose="00020600040101010101" charset="-122"/>
              </a:rPr>
              <a:t>成果</a:t>
            </a:r>
            <a:endParaRPr lang="zh-CN" sz="1100" b="1" kern="0" spc="200" dirty="0">
              <a:solidFill>
                <a:srgbClr val="62B6CB"/>
              </a:solidFill>
              <a:latin typeface="钉钉进步体" panose="00020600040101010101" charset="-122"/>
              <a:ea typeface="钉钉进步体" panose="00020600040101010101" charset="-122"/>
              <a:cs typeface="钉钉进步体" panose="00020600040101010101" charset="-122"/>
            </a:endParaRPr>
          </a:p>
        </p:txBody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3429000" y="2606040"/>
            <a:ext cx="2423160" cy="1965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训练后的推理模型 (GPRO)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CN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相关</a:t>
            </a:r>
            <a:r>
              <a:rPr lang="en-US" altLang="zh-CN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Benchmark 评测报告</a:t>
            </a:r>
            <a:endParaRPr lang="en-US" altLang="zh-CN" sz="1100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CN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过程评分规则</a:t>
            </a:r>
            <a:r>
              <a:rPr lang="en-US" altLang="zh-CN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&amp; </a:t>
            </a: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过程奖励模型</a:t>
            </a:r>
            <a:endParaRPr lang="en-US" sz="1100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altLang="zh-CN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ProcessBench/PRMBench</a:t>
            </a:r>
            <a:endParaRPr lang="en-US" sz="1100" dirty="0"/>
          </a:p>
        </p:txBody>
      </p:sp>
      <p:sp>
        <p:nvSpPr>
          <p:cNvPr id="17" name="Shape 15"/>
          <p:cNvSpPr/>
          <p:nvPr>
            <p:custDataLst>
              <p:tags r:id="rId9"/>
            </p:custDataLst>
          </p:nvPr>
        </p:nvSpPr>
        <p:spPr>
          <a:xfrm>
            <a:off x="6035040" y="205740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0"/>
            </p:custDataLst>
          </p:nvPr>
        </p:nvSpPr>
        <p:spPr>
          <a:xfrm>
            <a:off x="6035040" y="2057400"/>
            <a:ext cx="73152" cy="2606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6217920" y="2194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B703"/>
                </a:solidFill>
                <a:latin typeface="钉钉进步体" panose="00020600040101010101" charset="-122"/>
                <a:ea typeface="钉钉进步体" panose="00020600040101010101" charset="-122"/>
                <a:cs typeface="钉钉进步体" panose="00020600040101010101" charset="-122"/>
              </a:rPr>
              <a:t>BOUNDARY  </a:t>
            </a:r>
            <a:r>
              <a:rPr lang="zh-CN" altLang="en-US" sz="1100" b="1" kern="0" spc="200" dirty="0">
                <a:solidFill>
                  <a:srgbClr val="FFB703"/>
                </a:solidFill>
                <a:latin typeface="钉钉进步体" panose="00020600040101010101" charset="-122"/>
                <a:ea typeface="钉钉进步体" panose="00020600040101010101" charset="-122"/>
                <a:cs typeface="钉钉进步体" panose="00020600040101010101" charset="-122"/>
              </a:rPr>
              <a:t>约束</a:t>
            </a:r>
            <a:endParaRPr lang="zh-CN" altLang="en-US" sz="1100" b="1" kern="0" spc="200" dirty="0">
              <a:solidFill>
                <a:srgbClr val="FFB703"/>
              </a:solidFill>
              <a:latin typeface="钉钉进步体" panose="00020600040101010101" charset="-122"/>
              <a:ea typeface="钉钉进步体" panose="00020600040101010101" charset="-122"/>
              <a:cs typeface="钉钉进步体" panose="00020600040101010101" charset="-122"/>
            </a:endParaRPr>
          </a:p>
        </p:txBody>
      </p:sp>
      <p:sp>
        <p:nvSpPr>
          <p:cNvPr id="20" name="Text 18"/>
          <p:cNvSpPr/>
          <p:nvPr>
            <p:custDataLst>
              <p:tags r:id="rId12"/>
            </p:custDataLst>
          </p:nvPr>
        </p:nvSpPr>
        <p:spPr>
          <a:xfrm>
            <a:off x="6217920" y="2606040"/>
            <a:ext cx="2423160" cy="1965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聚焦数学推理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7B 参数量级,LoRA 微调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大模型逻辑推理过程监督强化学习算法 · 开题答辩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核心难点剖析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Key Challenges · 为什么这是个难题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将基于最终答案的二元反馈,转化为针对长 CoT 每一步的细粒度稠密信号,需要同时解决两大难题: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2336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" cy="2971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难题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奖励黑客 (Reward Hacking)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模型生成符合局部奖励最大化、但无实质逻辑增益的冗余步骤,以此「骗取」高分。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9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37490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PRM 分数与最终正确性常常不一致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累积式价值函数会放大局部高分步骤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DeepSeek-R1 因此放弃</a:t>
            </a:r>
            <a:r>
              <a:rPr lang="zh-CN" alt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</a:t>
            </a: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PRM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402336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691640"/>
            <a:ext cx="73152" cy="297180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783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49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难题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02996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长链信贷分配 (Credit Assignment)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 50 步推理终于得出正确答案,如何把这份功劳合理分配回每一步?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108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9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数学化目标: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383280"/>
            <a:ext cx="374904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456432"/>
            <a:ext cx="361188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49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Reward = w₁·step₁ + w₂·step₂ + … + wN·stepN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49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+ Conclusion ⊗ GroundTruth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核心问题:如何学习出合理的步级权重 wᵢ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大模型逻辑推理过程监督强化学习算法 · 开题答辩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数据集来源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Datasets · 训练 + 评测 + 自动合成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310896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087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9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步级监督(训练 PRM)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28473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PRM800K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57733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OpenAI · 80万步级人工标注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312420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自合成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34168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GPT-4o-mini + MC 共识过滤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37560" y="1371600"/>
            <a:ext cx="2560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371600"/>
            <a:ext cx="73152" cy="3108960"/>
          </a:xfrm>
          <a:prstGeom prst="rect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2152" y="15087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2B6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训练集(SFT + RL)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02152" y="192024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MATH (Hendrycks)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02152" y="221284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12.5K 题,5 难度等级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02152" y="278892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GSM8K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02152" y="308152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8.5K 小学应用题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02152" y="365760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NuminaMath-CoT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02152" y="39502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86万道带推理过程的题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1371600"/>
            <a:ext cx="2560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371600"/>
            <a:ext cx="73152" cy="3108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15087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评测集(竞赛级)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82512" y="192024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AIME 2024 / 2025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82512" y="221284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美国数学邀请赛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82512" y="278892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MATH-500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82512" y="308152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MATH 测试子集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82512" y="365760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OlympiadBench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82512" y="39502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国际奥赛题库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大模型逻辑推理过程监督强化学习算法 · 开题答辩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基线方案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Baselines · 用什么对比验证我们的算法有效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我们设置 4 组基线,覆盖「无 RL / 仅结果奖励 RL / 过程奖励 RL」三档难度,确保结果可对比。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691640"/>
          <a:ext cx="8229600" cy="237744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2743200"/>
                <a:gridCol w="2011680"/>
                <a:gridCol w="118872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基线方法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核心机制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代表论文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MATH-500 ≈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496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B0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Base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Qwen2.5-Math-7B 直接输出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Qwen 技术报告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~60%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496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B1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GRPO (仅结果奖励)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组内相对优势,二元正确性奖励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DeepSeekMath, 2024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~72%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496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B2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GRPO + </a:t>
                      </a:r>
                      <a:r>
                        <a:rPr lang="zh-CN" altLang="en-US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过程规则奖励</a:t>
                      </a:r>
                      <a:endParaRPr lang="zh-CN" altLang="en-US" sz="1050" dirty="0">
                        <a:solidFill>
                          <a:srgbClr val="0F172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直接讨论用自动化规则</a:t>
                      </a:r>
                      <a:r>
                        <a:rPr lang="en-US" altLang="zh-CN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优势函数做过程奖励，不依赖神经</a:t>
                      </a:r>
                      <a:r>
                        <a:rPr lang="en-US" altLang="zh-CN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PRM</a:t>
                      </a:r>
                      <a:endParaRPr lang="en-US" altLang="zh-CN" sz="1050" dirty="0">
                        <a:solidFill>
                          <a:srgbClr val="0F172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Rewarding Progress, 2024</a:t>
                      </a:r>
                      <a:endParaRPr lang="en-US" altLang="zh-CN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~84%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B7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B3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B7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GRPO + PRM (我们的目标基线)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 B1 基础上注入 PRM 稠密信号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PROGRS / PURE, 2025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B7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 ≥ 86%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4160520"/>
            <a:ext cx="73152" cy="548640"/>
          </a:xfrm>
          <a:prstGeom prst="rect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224528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9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评价指标:</a:t>
            </a:r>
            <a:r>
              <a:rPr lang="en-US" sz="11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Pass@1 (单次正确率) · Maj@N (自洽投票) 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大模型逻辑推理过程监督强化学习算法 · 开题答辩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改动与提升计划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</a:t>
            </a: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个改动方向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457200" y="1325880"/>
            <a:ext cx="40690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457200" y="1325880"/>
            <a:ext cx="73152" cy="160020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621792" y="144475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325880" y="149047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</a:t>
            </a: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奖励注入GRPO</a:t>
            </a:r>
            <a:endParaRPr lang="en-US" sz="14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621792" y="1874520"/>
            <a:ext cx="3794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在GRPO的训练框架中引入过程奖励信号，使模型不仅根据最终答案获得反馈，也能根据中间推理步骤获得细粒度监督。</a:t>
            </a:r>
            <a:endParaRPr lang="en-US" sz="1000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该设计在保持GRPO无需独立价值模型优势的同时，增强对长链推理过程的约束能力</a:t>
            </a:r>
            <a:r>
              <a:rPr lang="zh-CN" altLang="en-US" sz="10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000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621792" y="2651760"/>
            <a:ext cx="15087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640080" y="265176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9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增强过程监督</a:t>
            </a:r>
            <a:endParaRPr lang="en-US" sz="900" b="1" dirty="0">
              <a:solidFill>
                <a:srgbClr val="1B496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4617720" y="1325880"/>
            <a:ext cx="40690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4617720" y="1325880"/>
            <a:ext cx="73152" cy="160020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4782312" y="144475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5486400" y="149047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优化信贷分配机制</a:t>
            </a:r>
            <a:endParaRPr lang="en-US" sz="14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4782312" y="1874520"/>
            <a:ext cx="3794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针对长推理链中奖励分配不均的问题，调整价值评估方式，使奖励不再简单依赖未来收益累加，而是更加关注推理过程中相对薄弱或不稳定的步骤。</a:t>
            </a:r>
            <a:endParaRPr lang="zh-CN" altLang="en-US" sz="1000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zh-CN" altLang="en-US" sz="10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该机制有助于降低局部高奖励对整体训练目标的干扰。</a:t>
            </a:r>
            <a:endParaRPr lang="zh-CN" altLang="en-US" sz="1000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4782312" y="2651760"/>
            <a:ext cx="15087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4800600" y="265176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1B49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提升奖励稳定性</a:t>
            </a:r>
            <a:endParaRPr lang="zh-CN" altLang="en-US" sz="900" b="1" dirty="0">
              <a:solidFill>
                <a:srgbClr val="1B496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8"/>
          <p:cNvSpPr/>
          <p:nvPr>
            <p:custDataLst>
              <p:tags r:id="rId15"/>
            </p:custDataLst>
          </p:nvPr>
        </p:nvSpPr>
        <p:spPr>
          <a:xfrm>
            <a:off x="457200" y="3017520"/>
            <a:ext cx="40690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457200" y="3017520"/>
            <a:ext cx="73152" cy="160020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7"/>
            </p:custDataLst>
          </p:nvPr>
        </p:nvSpPr>
        <p:spPr>
          <a:xfrm>
            <a:off x="621792" y="313639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1325880" y="318211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学习步级权重</a:t>
            </a:r>
            <a:endParaRPr lang="zh-CN" altLang="en-US" sz="140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621792" y="3566160"/>
            <a:ext cx="3794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将推理步骤的权重由固定设定改为可学习参数，根据不同步骤对最终推理结果的贡献程度动态调整权重。通过该方式，使模型能够更加关注关键推理环节，减少无关或低价值步骤对训练的影响。</a:t>
            </a:r>
            <a:endParaRPr lang="zh-CN" altLang="en-US" sz="1000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Shape 23"/>
          <p:cNvSpPr/>
          <p:nvPr>
            <p:custDataLst>
              <p:tags r:id="rId20"/>
            </p:custDataLst>
          </p:nvPr>
        </p:nvSpPr>
        <p:spPr>
          <a:xfrm>
            <a:off x="621792" y="4343400"/>
            <a:ext cx="15087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21"/>
            </p:custDataLst>
          </p:nvPr>
        </p:nvSpPr>
        <p:spPr>
          <a:xfrm>
            <a:off x="640080" y="434340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1B49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刻画关键推理步骤</a:t>
            </a:r>
            <a:endParaRPr lang="en-US" sz="900" b="1" dirty="0">
              <a:solidFill>
                <a:srgbClr val="1B496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Shape 25"/>
          <p:cNvSpPr/>
          <p:nvPr>
            <p:custDataLst>
              <p:tags r:id="rId22"/>
            </p:custDataLst>
          </p:nvPr>
        </p:nvSpPr>
        <p:spPr>
          <a:xfrm>
            <a:off x="4617720" y="3017520"/>
            <a:ext cx="40690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>
            <p:custDataLst>
              <p:tags r:id="rId23"/>
            </p:custDataLst>
          </p:nvPr>
        </p:nvSpPr>
        <p:spPr>
          <a:xfrm>
            <a:off x="4617720" y="3017520"/>
            <a:ext cx="73152" cy="160020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4782312" y="313639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>
            <p:custDataLst>
              <p:tags r:id="rId25"/>
            </p:custDataLst>
          </p:nvPr>
        </p:nvSpPr>
        <p:spPr>
          <a:xfrm>
            <a:off x="5486400" y="318211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构建数据合成流程</a:t>
            </a:r>
            <a:endParaRPr lang="en-US" sz="14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Text 29"/>
          <p:cNvSpPr/>
          <p:nvPr>
            <p:custDataLst>
              <p:tags r:id="rId26"/>
            </p:custDataLst>
          </p:nvPr>
        </p:nvSpPr>
        <p:spPr>
          <a:xfrm>
            <a:off x="4782312" y="3566160"/>
            <a:ext cx="3794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设计自动化数据合成与筛选流程，结合模型生成、自动验证与评审机制，获得可用于过程监督训练的高质量数据。该流程能够降低对人工标注数据的依赖，并为后续实验提供可复用的数据基础。</a:t>
            </a:r>
            <a:endParaRPr lang="zh-CN" altLang="en-US" sz="1000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Shape 30"/>
          <p:cNvSpPr/>
          <p:nvPr>
            <p:custDataLst>
              <p:tags r:id="rId27"/>
            </p:custDataLst>
          </p:nvPr>
        </p:nvSpPr>
        <p:spPr>
          <a:xfrm>
            <a:off x="4782312" y="4343400"/>
            <a:ext cx="15087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>
            <p:custDataLst>
              <p:tags r:id="rId28"/>
            </p:custDataLst>
          </p:nvPr>
        </p:nvSpPr>
        <p:spPr>
          <a:xfrm>
            <a:off x="4800600" y="434340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9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提高数据构建效率</a:t>
            </a:r>
            <a:endParaRPr lang="en-US" sz="900" b="1" dirty="0">
              <a:solidFill>
                <a:srgbClr val="1B496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大模型逻辑推理过程监督强化学习算法 · 开题答辩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与已有工作的差异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现有方法通常侧重于结果奖励或过程奖励的单一改进；本项目尝试从算法目标、步骤建模和数据构建三个层面对过程监督强化学习进行组合优化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457200" y="1920240"/>
            <a:ext cx="73152" cy="868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3"/>
            </p:custDataLst>
          </p:nvPr>
        </p:nvSpPr>
        <p:spPr>
          <a:xfrm>
            <a:off x="640080" y="2084832"/>
            <a:ext cx="640080" cy="2926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640080" y="208483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9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</a:t>
            </a:r>
            <a:endParaRPr lang="en-US" sz="9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1417320" y="2039112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GRPO + PRM 联合优化</a:t>
            </a:r>
            <a:endParaRPr lang="en-US" sz="13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1417320" y="2332990"/>
            <a:ext cx="7040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GRPO 的组内相对优势训练框架下，引入过程级奖励信号，使模型优化目标同时考虑最终答案正确性和中间推理过程质量。相比仅使用结果奖励的方法，该方案能够提供更细粒度的训练反馈，有助于提升长链推理的稳定性。</a:t>
            </a:r>
            <a:endParaRPr lang="en-US" sz="105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457200" y="2880360"/>
            <a:ext cx="8229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457200" y="2880360"/>
            <a:ext cx="73152" cy="868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640080" y="3044952"/>
            <a:ext cx="640080" cy="2926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640080" y="304495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9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9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1417320" y="2999232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可学习步级权重</a:t>
            </a:r>
            <a:r>
              <a:rPr lang="zh-CN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</a:t>
            </a:r>
            <a:endParaRPr lang="zh-CN" sz="1300" b="1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1417320" y="3280410"/>
            <a:ext cx="7040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针对不同推理步骤贡献程度不同的问题，引入可学习的步级权重机制，使模型能够动态调整各步骤在训练目标中的影响。</a:t>
            </a:r>
            <a:endParaRPr lang="en-US" sz="105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该设计有助于突出关键推理步骤，降低低价值或不稳定步骤对整体训练的干扰。</a:t>
            </a:r>
            <a:endParaRPr lang="en-US" sz="105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Shape 20"/>
          <p:cNvSpPr/>
          <p:nvPr>
            <p:custDataLst>
              <p:tags r:id="rId15"/>
            </p:custDataLst>
          </p:nvPr>
        </p:nvSpPr>
        <p:spPr>
          <a:xfrm>
            <a:off x="640080" y="4005072"/>
            <a:ext cx="640080" cy="2926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640080" y="400507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9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900" dirty="0"/>
          </a:p>
        </p:txBody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1417320" y="3959352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自动化过程数据构建</a:t>
            </a:r>
            <a:endParaRPr lang="en-US" sz="1300" dirty="0"/>
          </a:p>
        </p:txBody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1417320" y="4246880"/>
            <a:ext cx="7040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构建面向过程监督的数据生成与筛选流程，结合多次采样验证和模型评审，对生成的推理过程进行质量控制。</a:t>
            </a:r>
            <a:endParaRPr lang="en-US" sz="105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该流程能够减少对人工标注数据的依赖，并为后续训练和评测提供可复用的数据基础。</a:t>
            </a:r>
            <a:endParaRPr lang="en-US" sz="105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大模型逻辑推理过程监督强化学习算法 · 开题答辩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算力资源与预算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Compute &amp; Budget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457200" y="1280160"/>
            <a:ext cx="26974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457200" y="1280160"/>
            <a:ext cx="73152" cy="86868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640080" y="130759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9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1×A800</a:t>
            </a:r>
            <a:endParaRPr lang="en-US" sz="24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640080" y="17190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80GB · 单节点</a:t>
            </a:r>
            <a:endParaRPr lang="en-US" sz="10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640080" y="192024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49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训练硬件</a:t>
            </a:r>
            <a:endParaRPr lang="en-US" sz="900" dirty="0"/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3246120" y="1280160"/>
            <a:ext cx="26974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3246120" y="1280160"/>
            <a:ext cx="73152" cy="868680"/>
          </a:xfrm>
          <a:prstGeom prst="rect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3429000" y="130759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2B6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200h</a:t>
            </a:r>
            <a:endParaRPr lang="en-US" sz="2400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3429000" y="17190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GPU · 训练总时长</a:t>
            </a:r>
            <a:endParaRPr lang="en-US" sz="10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3429000" y="192024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2B6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估算用量</a:t>
            </a:r>
            <a:endParaRPr lang="en-US" sz="900" dirty="0"/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6035040" y="1280160"/>
            <a:ext cx="26974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6035040" y="1280160"/>
            <a:ext cx="73152" cy="868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6217920" y="130759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¥4.34K</a:t>
            </a:r>
            <a:endParaRPr lang="en-US" sz="2400" dirty="0"/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6217920" y="17190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整体预算上限</a:t>
            </a:r>
            <a:endParaRPr lang="en-US" sz="10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6217920" y="192024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3个月总额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457200" y="2286000"/>
          <a:ext cx="8229600" cy="1962785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914400"/>
                <a:gridCol w="1097280"/>
                <a:gridCol w="164592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项目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规格 / 用途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数量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单价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小计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云 GPU 训练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1×A800 80GB · LoRA RL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200 h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¥7/h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¥1,400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LLM API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DeepSeek-V4-Pro · 数据合成与 LLM-as-judge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预计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1,500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输入：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</a:t>
                      </a:r>
                      <a:r>
                        <a:rPr lang="zh-CN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￥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/1M</a:t>
                      </a:r>
                      <a:endParaRPr lang="zh-CN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输出：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24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￥</a:t>
                      </a: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/1M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¥1,500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开发工具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ChatGPT Plus × 4 人 · 3 个月 · 代码协助</a:t>
                      </a:r>
                      <a:r>
                        <a:rPr lang="zh-CN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与专业建议</a:t>
                      </a:r>
                      <a:endParaRPr lang="zh-CN" sz="1000" dirty="0">
                        <a:solidFill>
                          <a:srgbClr val="0F172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 月席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$20/月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¥1,440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合计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——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B7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≈ ¥4,340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大模型逻辑推理过程监督强化学习算法 · 开题答辩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人员分工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Team Roles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06908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1627632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148132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数据 &amp; PRM 训练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178308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8A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强奕翔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98448" y="1993392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数据合成 pipeline 开发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PRM 模型训练 / 调参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ProcessBench 评测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" y="2651760"/>
            <a:ext cx="37947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51760"/>
            <a:ext cx="3703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技能栈: Python · HF Transformers · LLM API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1280160"/>
            <a:ext cx="406908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280160"/>
            <a:ext cx="73152" cy="1627632"/>
          </a:xfrm>
          <a:prstGeom prst="rect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463040"/>
            <a:ext cx="548640" cy="548640"/>
          </a:xfrm>
          <a:prstGeom prst="ellipse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463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58968" y="148132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RL 算法 &amp; 训练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58968" y="178308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8A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谢延坤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58968" y="1993392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GRPO + PRM 算法集成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min-form 信贷分配实现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训练稳定性调优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82312" y="2651760"/>
            <a:ext cx="37947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651760"/>
            <a:ext cx="3703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技能栈: PyTorch · TRL · DeepSpeed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406908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017520"/>
            <a:ext cx="73152" cy="16276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98448" y="321868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评测 &amp; 基线复现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98448" y="352044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8A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邓锡泽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98448" y="3730752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B0/B1/B2 基线复现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MATH/AIME 评测脚本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对比实验 + 可视化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" y="4389120"/>
            <a:ext cx="37947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389120"/>
            <a:ext cx="3703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技能栈: vLLM · 评测自动化 · matplotlib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17720" y="3017520"/>
            <a:ext cx="406908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17720" y="3017520"/>
            <a:ext cx="73152" cy="16276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20040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200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58968" y="321868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算法设计 &amp; 文档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58968" y="352044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8A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张旭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58968" y="3730752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理论分析 / 创新点设计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白皮书 + 答辩材料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 review + 仓库维护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82312" y="4389120"/>
            <a:ext cx="37947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389120"/>
            <a:ext cx="3703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技能栈: RL 理论 · LaTeX · Git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大模型逻辑推理过程监督强化学习算法 · 开题答辩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时间规划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 2 周前期 · 剩余 10 周冲刺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554480"/>
            <a:ext cx="0" cy="7315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3533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42160" y="1554480"/>
            <a:ext cx="0" cy="7315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21280" y="1554480"/>
            <a:ext cx="0" cy="7315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8400" y="13533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0" cy="7315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79520" y="1554480"/>
            <a:ext cx="0" cy="7315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6640" y="13533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58640" y="1554480"/>
            <a:ext cx="0" cy="7315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554480"/>
            <a:ext cx="0" cy="7315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3533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16880" y="1554480"/>
            <a:ext cx="0" cy="7315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6000" y="1554480"/>
            <a:ext cx="0" cy="7315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13120" y="13533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W8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75120" y="1554480"/>
            <a:ext cx="0" cy="7315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54240" y="1554480"/>
            <a:ext cx="0" cy="7315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71360" y="13533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833360" y="1554480"/>
            <a:ext cx="0" cy="7315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1554480"/>
            <a:ext cx="0" cy="7315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13533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463040" y="1645920"/>
            <a:ext cx="69494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3040" y="1600200"/>
            <a:ext cx="1158240" cy="9144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1325880"/>
            <a:ext cx="1158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205740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 · 论文调研 + 仓库搭建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463040" y="2103120"/>
            <a:ext cx="115824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92680" y="2103120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235000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 · 基线 B0/B1 复现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42160" y="2395728"/>
            <a:ext cx="115824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642616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 · 数据合成 pipeline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621280" y="2688336"/>
            <a:ext cx="1737360" cy="164592"/>
          </a:xfrm>
          <a:prstGeom prst="rect">
            <a:avLst/>
          </a:prstGeom>
          <a:solidFill>
            <a:srgbClr val="1B4965">
              <a:alpha val="85000"/>
            </a:srgbClr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935224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P4 · PRM 训练 + 评测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0" y="2980944"/>
            <a:ext cx="1737360" cy="164592"/>
          </a:xfrm>
          <a:prstGeom prst="rect">
            <a:avLst/>
          </a:prstGeom>
          <a:solidFill>
            <a:srgbClr val="1B4965">
              <a:alpha val="85000"/>
            </a:srgbClr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2783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P5 · GRPO+PRM 算法实现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79520" y="3273552"/>
            <a:ext cx="2316480" cy="164592"/>
          </a:xfrm>
          <a:prstGeom prst="rect">
            <a:avLst/>
          </a:prstGeom>
          <a:solidFill>
            <a:srgbClr val="62B6CB">
              <a:alpha val="85000"/>
            </a:srgbClr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5204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P6 · 主实验 + 消融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16880" y="3566160"/>
            <a:ext cx="1737360" cy="164592"/>
          </a:xfrm>
          <a:prstGeom prst="rect">
            <a:avLst/>
          </a:prstGeom>
          <a:solidFill>
            <a:srgbClr val="62B6CB">
              <a:alpha val="85000"/>
            </a:srgbClr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81304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P7 · 写作 + 答辩准备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75120" y="3858768"/>
            <a:ext cx="1737360" cy="164592"/>
          </a:xfrm>
          <a:prstGeom prst="rect">
            <a:avLst/>
          </a:prstGeom>
          <a:solidFill>
            <a:srgbClr val="FFB703">
              <a:alpha val="8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03776" y="4251960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01440" y="43891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PRM v1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41136" y="4251960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38800" y="43891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首版联合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训练成功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778496" y="4251960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76160" y="43891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实验冻结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5760" y="429768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ROADMAP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大模型逻辑推理过程监督强化学习算法 · 开题答辩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现存问题与预案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大</a:t>
            </a:r>
            <a:r>
              <a:rPr lang="zh-CN" alt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挑战</a:t>
            </a:r>
            <a:endParaRPr lang="zh-CN" altLang="en-US" sz="110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44752"/>
            <a:ext cx="5029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44752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137160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训练不稳定 / 奖励崩塌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1371600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降学习率 + 增 KL 约束 + 设置 clip 阈值;预留小模型 (1.5B) 作为快速迭代沙箱。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93392"/>
            <a:ext cx="82296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93392"/>
            <a:ext cx="73152" cy="67665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157984"/>
            <a:ext cx="50292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15798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2084832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PRM 步级标签噪声大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51960" y="2084832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MC + LLM-judge 共识过滤;先在 GSM8K 这种结构化数据上验证,再迁移 MATH。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06624"/>
            <a:ext cx="82296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706624"/>
            <a:ext cx="73152" cy="67665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871216"/>
            <a:ext cx="50292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871216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2798064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算力超预算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51960" y="2798064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 LoRA 微调;关键实验用 7B,消融实验降到 1.5B/3B;争取校内 / 云厂商代金券。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19856"/>
            <a:ext cx="82296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419856"/>
            <a:ext cx="73152" cy="67665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584448"/>
            <a:ext cx="50292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584448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80160" y="3511296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AIME/IMO 评测难度过高 提升不显著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51960" y="3511296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建立分层评测 (GSM8K → MATH-500 → AIME),用增量贡献而非绝对分数衡量进步。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33088"/>
            <a:ext cx="82296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133088"/>
            <a:ext cx="73152" cy="676656"/>
          </a:xfrm>
          <a:prstGeom prst="rect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4297680"/>
            <a:ext cx="502920" cy="347472"/>
          </a:xfrm>
          <a:prstGeom prst="rect">
            <a:avLst/>
          </a:prstGeom>
          <a:solidFill>
            <a:srgbClr val="62B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29768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80160" y="422452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人协作冲突 / 进度脱节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251960" y="4224528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 Project 看板 + 每周例会 + 双周 cross-review;预留 W11-W12 作整合缓冲。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大模型逻辑推理过程监督强化学习算法 · 开题答辩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前期工作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6835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论文调研 · 仓库搭建 · 初步复现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974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338328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 论文调研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已精读 7 篇核心论文</a:t>
            </a:r>
            <a:r>
              <a:rPr lang="zh-CN" sz="9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，泛读近</a:t>
            </a:r>
            <a:r>
              <a:rPr lang="en-US" altLang="zh-CN" sz="9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20 </a:t>
            </a:r>
            <a:r>
              <a:rPr lang="zh-CN" altLang="en-US" sz="9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篇</a:t>
            </a:r>
            <a:endParaRPr lang="zh-CN" altLang="en-US" sz="950" i="1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2468880" cy="2606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Let's Verify Step by Step (OpenAI, 2023)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DeepSeekMath / GRPO (2024)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Math-Shepherd (ACL 2024)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PURE: Process-supervised RL (2025)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PROGRS (2026)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ReST-MCTS* (NeurIPS 2024)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Lessons of PRMs (Qwen, 2025)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517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80160"/>
            <a:ext cx="73152" cy="3383280"/>
          </a:xfrm>
          <a:prstGeom prst="rect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37160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2B6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 仓库搭建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69164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https://github.com/KS-superbig/process_supervised_rl</a:t>
            </a:r>
            <a:endParaRPr lang="en-US" sz="800" i="1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29000" y="1965960"/>
            <a:ext cx="228600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429000" y="333756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49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已完成模块: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数据加载器 (PRM800K + MATH)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评测脚本 (MATH-500 自动评分)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GRPO 训练脚手架 (基于 TRL)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9320" y="1280160"/>
            <a:ext cx="26974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280160"/>
            <a:ext cx="73152" cy="33832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37160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 初步复现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169164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GSM8K </a:t>
            </a:r>
            <a:r>
              <a:rPr lang="zh-CN" altLang="en-US" sz="9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</a:t>
            </a:r>
            <a:r>
              <a:rPr lang="en-US" altLang="zh-CN" sz="9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+ PyTest</a:t>
            </a:r>
            <a:r>
              <a:rPr lang="zh-CN" altLang="zh-CN" sz="9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测试通过</a:t>
            </a:r>
            <a:endParaRPr lang="zh-CN" altLang="zh-CN" sz="950" i="1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72200" y="1965960"/>
            <a:ext cx="233172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172200" y="254203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 训练曲线 / 评测对比图 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352044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B49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复现结果: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4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</a:t>
            </a:r>
            <a:r>
              <a:rPr lang="zh-CN" altLang="en-US" sz="9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可行性验证通过</a:t>
            </a:r>
            <a:endParaRPr lang="zh-CN" altLang="en-US" sz="950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大模型逻辑推理过程监督强化学习算法 · 开题答辩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13</a:t>
            </a:r>
            <a:endParaRPr lang="en-US" sz="900" dirty="0"/>
          </a:p>
        </p:txBody>
      </p:sp>
      <p:pic>
        <p:nvPicPr>
          <p:cNvPr id="27" name="图片 26"/>
          <p:cNvPicPr/>
          <p:nvPr/>
        </p:nvPicPr>
        <p:blipFill>
          <a:blip r:embed="rId1"/>
          <a:stretch>
            <a:fillRect/>
          </a:stretch>
        </p:blipFill>
        <p:spPr>
          <a:xfrm>
            <a:off x="3430905" y="1965960"/>
            <a:ext cx="2287270" cy="127762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085" y="1947545"/>
            <a:ext cx="2471420" cy="149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预期成果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Expected Deliverables · 三大类产出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457200" y="1280160"/>
            <a:ext cx="26974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457200" y="1280160"/>
            <a:ext cx="73152" cy="338328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1440180" y="1463040"/>
            <a:ext cx="731520" cy="731520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440180" y="1463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</a:t>
            </a:r>
            <a:endParaRPr lang="zh-CN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640080" y="233172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 + 模型</a:t>
            </a:r>
            <a:endParaRPr lang="en-US" sz="1600" dirty="0"/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1005840" y="2788920"/>
            <a:ext cx="1691640" cy="0"/>
          </a:xfrm>
          <a:prstGeom prst="line">
            <a:avLst/>
          </a:prstGeom>
          <a:noFill/>
          <a:ln w="19050">
            <a:solidFill>
              <a:srgbClr val="1B4965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685800" y="2926080"/>
            <a:ext cx="2331720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GRPO+PRM 联合训练算法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训练后的 7B 推理模型权重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MATH-500 上目标 ≥ 86% (B1 基线 +4pt)</a:t>
            </a:r>
            <a:endParaRPr lang="en-US" sz="1050" dirty="0"/>
          </a:p>
        </p:txBody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3246120" y="1280160"/>
            <a:ext cx="26974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3246120" y="1280160"/>
            <a:ext cx="73152" cy="3383280"/>
          </a:xfrm>
          <a:prstGeom prst="rect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4229100" y="1463040"/>
            <a:ext cx="731520" cy="731520"/>
          </a:xfrm>
          <a:prstGeom prst="ellipse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4229100" y="1463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3429000" y="233172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 + 工具链</a:t>
            </a:r>
            <a:endParaRPr lang="en-US" sz="16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3794760" y="2788920"/>
            <a:ext cx="1691640" cy="0"/>
          </a:xfrm>
          <a:prstGeom prst="line">
            <a:avLst/>
          </a:prstGeom>
          <a:noFill/>
          <a:ln w="19050">
            <a:solidFill>
              <a:srgbClr val="62B6CB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3474720" y="2926080"/>
            <a:ext cx="2331720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CN" altLang="en-US" sz="10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开源且</a:t>
            </a:r>
            <a:r>
              <a:rPr lang="en-US" sz="10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可复用的步级数据合成 pipeline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100K 条自动标注的步级数据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ProcessBench 上 PRM 步错识别准确率 ≥ 70%</a:t>
            </a:r>
            <a:endParaRPr lang="en-US" sz="1050" dirty="0"/>
          </a:p>
        </p:txBody>
      </p:sp>
      <p:sp>
        <p:nvSpPr>
          <p:cNvPr id="20" name="Shape 18"/>
          <p:cNvSpPr/>
          <p:nvPr>
            <p:custDataLst>
              <p:tags r:id="rId15"/>
            </p:custDataLst>
          </p:nvPr>
        </p:nvSpPr>
        <p:spPr>
          <a:xfrm>
            <a:off x="6035040" y="1280160"/>
            <a:ext cx="26974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6035040" y="1280160"/>
            <a:ext cx="73152" cy="33832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7018020" y="1463040"/>
            <a:ext cx="731520" cy="7315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7018020" y="1463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</a:t>
            </a:r>
            <a:endParaRPr lang="en-US" sz="240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6217920" y="233172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 + 报告</a:t>
            </a:r>
            <a:endParaRPr lang="en-US" sz="1600" dirty="0"/>
          </a:p>
        </p:txBody>
      </p:sp>
      <p:sp>
        <p:nvSpPr>
          <p:cNvPr id="25" name="Shape 23"/>
          <p:cNvSpPr/>
          <p:nvPr>
            <p:custDataLst>
              <p:tags r:id="rId20"/>
            </p:custDataLst>
          </p:nvPr>
        </p:nvSpPr>
        <p:spPr>
          <a:xfrm>
            <a:off x="6583680" y="2788920"/>
            <a:ext cx="1691640" cy="0"/>
          </a:xfrm>
          <a:prstGeom prst="line">
            <a:avLst/>
          </a:prstGeom>
          <a:noFill/>
          <a:ln w="19050">
            <a:solidFill>
              <a:srgbClr val="FFB703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21"/>
            </p:custDataLst>
          </p:nvPr>
        </p:nvSpPr>
        <p:spPr>
          <a:xfrm>
            <a:off x="6263640" y="2926080"/>
            <a:ext cx="2331720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</a:t>
            </a:r>
            <a:r>
              <a:rPr lang="zh-CN" altLang="en-US" sz="10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</a:t>
            </a:r>
            <a:r>
              <a:rPr lang="en-US" altLang="en-US" sz="10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zh-CN" altLang="en-US" sz="10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白皮书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完整代码仓库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大模型逻辑推理过程监督强化学习算法 · 开题答辩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64008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Q&amp;A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dirty="0">
                <a:solidFill>
                  <a:srgbClr val="62B6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敬请各位老师同学批评指正</a:t>
            </a:r>
            <a:endParaRPr lang="zh-CN" altLang="en-US" sz="1800" dirty="0">
              <a:solidFill>
                <a:srgbClr val="62B6C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3657600" cy="0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我们要做的事</a:t>
            </a:r>
            <a:r>
              <a:rPr lang="zh-CN" sz="1100" b="1" kern="0" spc="100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altLang="zh-CN" sz="1100" b="1" kern="0" spc="100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</a:t>
            </a:r>
            <a:endParaRPr lang="en-US" altLang="zh-CN" sz="1100" b="1" kern="0" spc="100" dirty="0">
              <a:solidFill>
                <a:srgbClr val="FFB70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1"/>
            </p:custDataLst>
          </p:nvPr>
        </p:nvSpPr>
        <p:spPr>
          <a:xfrm>
            <a:off x="457200" y="333756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做什么</a:t>
            </a:r>
            <a:endParaRPr lang="en-US" sz="1100" dirty="0"/>
          </a:p>
        </p:txBody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554480" y="3337560"/>
            <a:ext cx="7040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GRPO 框架下设计稠密、抗黑客的过程奖励</a:t>
            </a:r>
            <a:endParaRPr lang="en-US" sz="12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457200" y="374904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怎么做</a:t>
            </a:r>
            <a:endParaRPr lang="en-US" sz="11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554480" y="3749040"/>
            <a:ext cx="7040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GRPO + PRM 联合优化 &amp; 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步级权重调整方法</a:t>
            </a:r>
            <a:r>
              <a:rPr lang="en-US" altLang="zh-CN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&amp; 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数据构建流水线</a:t>
            </a:r>
            <a:endParaRPr lang="zh-CN" altLang="en-US" sz="1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457200" y="416052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做到什么</a:t>
            </a:r>
            <a:endParaRPr lang="en-US" sz="11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1554480" y="4160520"/>
            <a:ext cx="7040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MATH-500 ≥ 86% · </a:t>
            </a:r>
            <a:r>
              <a:rPr lang="zh-CN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</a:t>
            </a: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pipeline · 白皮书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2C3E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</a:t>
            </a:r>
            <a:r>
              <a:rPr lang="zh-CN" sz="1000" dirty="0">
                <a:solidFill>
                  <a:srgbClr val="8A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成员</a:t>
            </a:r>
            <a:r>
              <a:rPr lang="en-US" sz="1000" dirty="0">
                <a:solidFill>
                  <a:srgbClr val="8A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: </a:t>
            </a:r>
            <a:r>
              <a:rPr lang="zh-CN" altLang="en-US" sz="1000" dirty="0">
                <a:solidFill>
                  <a:srgbClr val="8A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张旭</a:t>
            </a:r>
            <a:r>
              <a:rPr lang="en-US" altLang="zh-CN" sz="1000" dirty="0">
                <a:solidFill>
                  <a:srgbClr val="8A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000" dirty="0">
                <a:solidFill>
                  <a:srgbClr val="8A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谢延坤 强奕翔 邓锡泽</a:t>
            </a:r>
            <a:r>
              <a:rPr lang="en-US" sz="1000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·    </a:t>
            </a:r>
            <a:r>
              <a:rPr lang="en-US" sz="1000" b="1" dirty="0">
                <a:solidFill>
                  <a:srgbClr val="FFB7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05.2,&quot;left&quot;:36,&quot;top&quot;:162,&quot;width&quot;:651.6}"/>
</p:tagLst>
</file>

<file path=ppt/tags/tag2.xml><?xml version="1.0" encoding="utf-8"?>
<p:tagLst xmlns:p="http://schemas.openxmlformats.org/presentationml/2006/main">
  <p:tag name="KSO_WM_DIAGRAM_VIRTUALLY_FRAME" val="{&quot;height&quot;:205.2,&quot;left&quot;:36,&quot;top&quot;:162,&quot;width&quot;:651.6}"/>
</p:tagLst>
</file>

<file path=ppt/tags/tag3.xml><?xml version="1.0" encoding="utf-8"?>
<p:tagLst xmlns:p="http://schemas.openxmlformats.org/presentationml/2006/main">
  <p:tag name="KSO_WM_DIAGRAM_VIRTUALLY_FRAME" val="{&quot;height&quot;:205.2,&quot;left&quot;:36,&quot;top&quot;:162,&quot;width&quot;:651.6}"/>
</p:tagLst>
</file>

<file path=ppt/tags/tag4.xml><?xml version="1.0" encoding="utf-8"?>
<p:tagLst xmlns:p="http://schemas.openxmlformats.org/presentationml/2006/main">
  <p:tag name="KSO_WM_DIAGRAM_VIRTUALLY_FRAME" val="{&quot;height&quot;:205.2,&quot;left&quot;:36,&quot;top&quot;:162,&quot;width&quot;:651.6}"/>
</p:tagLst>
</file>

<file path=ppt/tags/tag5.xml><?xml version="1.0" encoding="utf-8"?>
<p:tagLst xmlns:p="http://schemas.openxmlformats.org/presentationml/2006/main">
  <p:tag name="KSO_WM_DIAGRAM_VIRTUALLY_FRAME" val="{&quot;height&quot;:205.2,&quot;left&quot;:36,&quot;top&quot;:162,&quot;width&quot;:651.6}"/>
</p:tagLst>
</file>

<file path=ppt/tags/tag6.xml><?xml version="1.0" encoding="utf-8"?>
<p:tagLst xmlns:p="http://schemas.openxmlformats.org/presentationml/2006/main">
  <p:tag name="KSO_WM_DIAGRAM_VIRTUALLY_FRAME" val="{&quot;height&quot;:205.2,&quot;left&quot;:36,&quot;top&quot;:162,&quot;width&quot;:651.6}"/>
</p:tagLst>
</file>

<file path=ppt/tags/tag7.xml><?xml version="1.0" encoding="utf-8"?>
<p:tagLst xmlns:p="http://schemas.openxmlformats.org/presentationml/2006/main">
  <p:tag name="KSO_WM_DIAGRAM_VIRTUALLY_FRAME" val="{&quot;height&quot;:205.2,&quot;left&quot;:36,&quot;top&quot;:162,&quot;width&quot;:651.6}"/>
</p:tagLst>
</file>

<file path=ppt/tags/tag8.xml><?xml version="1.0" encoding="utf-8"?>
<p:tagLst xmlns:p="http://schemas.openxmlformats.org/presentationml/2006/main">
  <p:tag name="KSO_WM_DIAGRAM_VIRTUALLY_FRAME" val="{&quot;height&quot;:205.2,&quot;left&quot;:36,&quot;top&quot;:162,&quot;width&quot;:651.6}"/>
</p:tagLst>
</file>

<file path=ppt/tags/tag9.xml><?xml version="1.0" encoding="utf-8"?>
<p:tagLst xmlns:p="http://schemas.openxmlformats.org/presentationml/2006/main">
  <p:tag name="KSO_WM_DIAGRAM_VIRTUALLY_FRAME" val="{&quot;height&quot;:205.2,&quot;left&quot;:36,&quot;top&quot;:162,&quot;width&quot;:651.6}"/>
</p:tagLst>
</file>

<file path=ppt/tags/tag10.xml><?xml version="1.0" encoding="utf-8"?>
<p:tagLst xmlns:p="http://schemas.openxmlformats.org/presentationml/2006/main">
  <p:tag name="KSO_WM_DIAGRAM_VIRTUALLY_FRAME" val="{&quot;height&quot;:205.2,&quot;left&quot;:36,&quot;top&quot;:162,&quot;width&quot;:651.6}"/>
</p:tagLst>
</file>

<file path=ppt/tags/tag11.xml><?xml version="1.0" encoding="utf-8"?>
<p:tagLst xmlns:p="http://schemas.openxmlformats.org/presentationml/2006/main">
  <p:tag name="KSO_WM_DIAGRAM_VIRTUALLY_FRAME" val="{&quot;height&quot;:205.2,&quot;left&quot;:36,&quot;top&quot;:162,&quot;width&quot;:651.6}"/>
</p:tagLst>
</file>

<file path=ppt/tags/tag12.xml><?xml version="1.0" encoding="utf-8"?>
<p:tagLst xmlns:p="http://schemas.openxmlformats.org/presentationml/2006/main">
  <p:tag name="KSO_WM_DIAGRAM_VIRTUALLY_FRAME" val="{&quot;height&quot;:205.2,&quot;left&quot;:36,&quot;top&quot;:162,&quot;width&quot;:651.6}"/>
</p:tagLst>
</file>

<file path=ppt/tags/tag13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14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15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16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17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18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19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20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21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22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23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24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25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26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27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28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29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30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31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32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33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34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35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36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37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38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39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40.xml><?xml version="1.0" encoding="utf-8"?>
<p:tagLst xmlns:p="http://schemas.openxmlformats.org/presentationml/2006/main">
  <p:tag name="KSO_WM_DIAGRAM_VIRTUALLY_FRAME" val="{&quot;height&quot;:259.2,&quot;left&quot;:36,&quot;top&quot;:104.4,&quot;width&quot;:648}"/>
</p:tagLst>
</file>

<file path=ppt/tags/tag41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42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43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44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45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46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47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48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49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50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51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52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53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54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55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56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57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58.xml><?xml version="1.0" encoding="utf-8"?>
<p:tagLst xmlns:p="http://schemas.openxmlformats.org/presentationml/2006/main">
  <p:tag name="KSO_WM_DIAGRAM_VIRTUALLY_FRAME" val="{&quot;height&quot;:219.6,&quot;left&quot;:36,&quot;top&quot;:151.2,&quot;width&quot;:648}"/>
</p:tagLst>
</file>

<file path=ppt/tags/tag59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60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61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62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63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64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65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66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67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68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69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70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71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72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73.xml><?xml version="1.0" encoding="utf-8"?>
<p:tagLst xmlns:p="http://schemas.openxmlformats.org/presentationml/2006/main">
  <p:tag name="KSO_WM_DIAGRAM_VIRTUALLY_FRAME" val="{&quot;height&quot;:68.4,&quot;left&quot;:36,&quot;top&quot;:100.8,&quot;width&quot;:651.6}"/>
</p:tagLst>
</file>

<file path=ppt/tags/tag74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75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76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77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78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79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80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81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82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83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84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85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86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87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88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89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90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91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92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93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94.xml><?xml version="1.0" encoding="utf-8"?>
<p:tagLst xmlns:p="http://schemas.openxmlformats.org/presentationml/2006/main">
  <p:tag name="KSO_WM_DIAGRAM_VIRTUALLY_FRAME" val="{&quot;height&quot;:266.4,&quot;left&quot;:36,&quot;top&quot;:100.8,&quot;width&quot;:651.6}"/>
</p:tagLst>
</file>

<file path=ppt/tags/tag95.xml><?xml version="1.0" encoding="utf-8"?>
<p:tagLst xmlns:p="http://schemas.openxmlformats.org/presentationml/2006/main">
  <p:tag name="KSO_WM_DIAGRAM_VIRTUALLY_FRAME" val="{&quot;height&quot;:87.84,&quot;left&quot;:36,&quot;top&quot;:262.8,&quot;width&quot;:640.8}"/>
</p:tagLst>
</file>

<file path=ppt/tags/tag96.xml><?xml version="1.0" encoding="utf-8"?>
<p:tagLst xmlns:p="http://schemas.openxmlformats.org/presentationml/2006/main">
  <p:tag name="KSO_WM_DIAGRAM_VIRTUALLY_FRAME" val="{&quot;height&quot;:87.84,&quot;left&quot;:36,&quot;top&quot;:262.8,&quot;width&quot;:640.8}"/>
</p:tagLst>
</file>

<file path=ppt/tags/tag97.xml><?xml version="1.0" encoding="utf-8"?>
<p:tagLst xmlns:p="http://schemas.openxmlformats.org/presentationml/2006/main">
  <p:tag name="KSO_WM_DIAGRAM_VIRTUALLY_FRAME" val="{&quot;height&quot;:87.84,&quot;left&quot;:36,&quot;top&quot;:262.8,&quot;width&quot;:640.8}"/>
</p:tagLst>
</file>

<file path=ppt/tags/tag98.xml><?xml version="1.0" encoding="utf-8"?>
<p:tagLst xmlns:p="http://schemas.openxmlformats.org/presentationml/2006/main">
  <p:tag name="KSO_WM_DIAGRAM_VIRTUALLY_FRAME" val="{&quot;height&quot;:87.84,&quot;left&quot;:36,&quot;top&quot;:262.8,&quot;width&quot;:640.8}"/>
</p:tagLst>
</file>

<file path=ppt/tags/tag99.xml><?xml version="1.0" encoding="utf-8"?>
<p:tagLst xmlns:p="http://schemas.openxmlformats.org/presentationml/2006/main">
  <p:tag name="KSO_WM_DIAGRAM_VIRTUALLY_FRAME" val="{&quot;height&quot;:87.84,&quot;left&quot;:36,&quot;top&quot;:262.8,&quot;width&quot;:640.8}"/>
</p:tagLst>
</file>

<file path=ppt/tags/tag100.xml><?xml version="1.0" encoding="utf-8"?>
<p:tagLst xmlns:p="http://schemas.openxmlformats.org/presentationml/2006/main">
  <p:tag name="KSO_WM_DIAGRAM_VIRTUALLY_FRAME" val="{&quot;height&quot;:87.84,&quot;left&quot;:36,&quot;top&quot;:262.8,&quot;width&quot;:640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黑 197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汉仪中黑 197"/>
        <a:font script="Hebr" typeface="汉仪中黑 197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黑 197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黑 197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汉仪中黑 197"/>
        <a:font script="Hebr" typeface="汉仪中黑 197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黑 197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中黑 197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汉仪中黑 197"/>
        <a:font script="Hebr" typeface="汉仪中黑 197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中黑 197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4593</Words>
  <Application>WPS 演示</Application>
  <PresentationFormat>On-screen Show (16:9)</PresentationFormat>
  <Paragraphs>570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Calibri</vt:lpstr>
      <vt:lpstr>Calibri</vt:lpstr>
      <vt:lpstr>Calibri</vt:lpstr>
      <vt:lpstr>微软雅黑</vt:lpstr>
      <vt:lpstr>微软雅黑</vt:lpstr>
      <vt:lpstr>Arial Unicode MS</vt:lpstr>
      <vt:lpstr>等线</vt:lpstr>
      <vt:lpstr>汉仪中黑 197</vt:lpstr>
      <vt:lpstr>钉钉进步体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大模型逻辑推理过程监督强化学习算法 — 开题答辩</dc:title>
  <dc:creator>Python课题组</dc:creator>
  <dc:subject>PptxGenJS Presentation</dc:subject>
  <cp:lastModifiedBy>张旭</cp:lastModifiedBy>
  <cp:revision>28</cp:revision>
  <dcterms:created xsi:type="dcterms:W3CDTF">2026-04-26T05:48:00Z</dcterms:created>
  <dcterms:modified xsi:type="dcterms:W3CDTF">2026-04-26T08:36:59Z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4C920CCE92C24D3EB4EB9260926B0E16_12</vt:lpwstr>
  </property>
</Properties>
</file>